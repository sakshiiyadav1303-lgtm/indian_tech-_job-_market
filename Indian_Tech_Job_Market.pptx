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Postings</c:v>
                </c:pt>
              </c:strCache>
            </c:strRef>
          </c:tx>
          <c:spPr>
            <a:solidFill>
              <a:srgbClr val="0F9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Gurgaon</c:v>
                  </c:pt>
                  <c:pt idx="1">
                    <c:v>Noida</c:v>
                  </c:pt>
                  <c:pt idx="2">
                    <c:v>Pune</c:v>
                  </c:pt>
                  <c:pt idx="3">
                    <c:v>Chennai</c:v>
                  </c:pt>
                  <c:pt idx="4">
                    <c:v>Bangalore</c:v>
                  </c:pt>
                  <c:pt idx="5">
                    <c:v>Mumbai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2210</c:v>
                </c:pt>
                <c:pt idx="1">
                  <c:v>2585</c:v>
                </c:pt>
                <c:pt idx="2">
                  <c:v>2606</c:v>
                </c:pt>
                <c:pt idx="3">
                  <c:v>2666</c:v>
                </c:pt>
                <c:pt idx="4">
                  <c:v>2830</c:v>
                </c:pt>
                <c:pt idx="5">
                  <c:v>3276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Postings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Capgemini</c:v>
                  </c:pt>
                  <c:pt idx="1">
                    <c:v>Infosys</c:v>
                  </c:pt>
                  <c:pt idx="2">
                    <c:v>Leading Client</c:v>
                  </c:pt>
                  <c:pt idx="3">
                    <c:v>EY</c:v>
                  </c:pt>
                  <c:pt idx="4">
                    <c:v>Accenture</c:v>
                  </c:pt>
                  <c:pt idx="5">
                    <c:v>Tata Consultancy Services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195</c:v>
                </c:pt>
                <c:pt idx="1">
                  <c:v>209</c:v>
                </c:pt>
                <c:pt idx="2">
                  <c:v>243</c:v>
                </c:pt>
                <c:pt idx="3">
                  <c:v>340</c:v>
                </c:pt>
                <c:pt idx="4">
                  <c:v>438</c:v>
                </c:pt>
                <c:pt idx="5">
                  <c:v>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Postings</c:v>
                </c:pt>
              </c:strCache>
            </c:strRef>
          </c:tx>
          <c:spPr>
            <a:solidFill>
              <a:srgbClr val="0F9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Python Developer</c:v>
                  </c:pt>
                  <c:pt idx="1">
                    <c:v>Data Engineer</c:v>
                  </c:pt>
                  <c:pt idx="2">
                    <c:v>Machine Learning Engineer</c:v>
                  </c:pt>
                  <c:pt idx="3">
                    <c:v>Business Analyst</c:v>
                  </c:pt>
                  <c:pt idx="4">
                    <c:v>Data Analyst</c:v>
                  </c:pt>
                  <c:pt idx="5">
                    <c:v>Data Scientist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1586</c:v>
                </c:pt>
                <c:pt idx="1">
                  <c:v>1922</c:v>
                </c:pt>
                <c:pt idx="2">
                  <c:v>4004</c:v>
                </c:pt>
                <c:pt idx="3">
                  <c:v>4505</c:v>
                </c:pt>
                <c:pt idx="4">
                  <c:v>4729</c:v>
                </c:pt>
                <c:pt idx="5">
                  <c:v>6455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</c:v>
                </c:pt>
              </c:strCache>
            </c:strRef>
          </c:tx>
          <c:spPr>
            <a:solidFill>
              <a:srgbClr val="0F9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0-5</c:v>
                  </c:pt>
                  <c:pt idx="1">
                    <c:v>5-10</c:v>
                  </c:pt>
                  <c:pt idx="2">
                    <c:v>10-15</c:v>
                  </c:pt>
                  <c:pt idx="3">
                    <c:v>15-20</c:v>
                  </c:pt>
                  <c:pt idx="4">
                    <c:v>20-25</c:v>
                  </c:pt>
                  <c:pt idx="5">
                    <c:v>25-30</c:v>
                  </c:pt>
                  <c:pt idx="6">
                    <c:v>30-40</c:v>
                  </c:pt>
                  <c:pt idx="7">
                    <c:v>40+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433</c:v>
                </c:pt>
                <c:pt idx="1">
                  <c:v>425</c:v>
                </c:pt>
                <c:pt idx="2">
                  <c:v>709</c:v>
                </c:pt>
                <c:pt idx="3">
                  <c:v>362</c:v>
                </c:pt>
                <c:pt idx="4">
                  <c:v>400</c:v>
                </c:pt>
                <c:pt idx="5">
                  <c:v>205</c:v>
                </c:pt>
                <c:pt idx="6">
                  <c:v>174</c:v>
                </c:pt>
                <c:pt idx="7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Salary (LPA)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F9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Data Analyst</c:v>
                  </c:pt>
                  <c:pt idx="1">
                    <c:v>Business Analyst</c:v>
                  </c:pt>
                  <c:pt idx="2">
                    <c:v>Python Developer</c:v>
                  </c:pt>
                  <c:pt idx="3">
                    <c:v>ML Engineer</c:v>
                  </c:pt>
                  <c:pt idx="4">
                    <c:v>Data Engineer</c:v>
                  </c:pt>
                  <c:pt idx="5">
                    <c:v>Data Scientist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10.6</c:v>
                </c:pt>
                <c:pt idx="1">
                  <c:v>14.1</c:v>
                </c:pt>
                <c:pt idx="2">
                  <c:v>15.7</c:v>
                </c:pt>
                <c:pt idx="3">
                  <c:v>16.3</c:v>
                </c:pt>
                <c:pt idx="4">
                  <c:v>17.9</c:v>
                </c:pt>
                <c:pt idx="5">
                  <c:v>18.6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Noida</c:v>
                  </c:pt>
                  <c:pt idx="1">
                    <c:v>Gurgaon</c:v>
                  </c:pt>
                  <c:pt idx="2">
                    <c:v>Bangalore</c:v>
                  </c:pt>
                  <c:pt idx="3">
                    <c:v>Mumbai</c:v>
                  </c:pt>
                  <c:pt idx="4">
                    <c:v>Chennai</c:v>
                  </c:pt>
                  <c:pt idx="5">
                    <c:v>Pune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13.5</c:v>
                </c:pt>
                <c:pt idx="1">
                  <c:v>14.9</c:v>
                </c:pt>
                <c:pt idx="2">
                  <c:v>15.8</c:v>
                </c:pt>
                <c:pt idx="3">
                  <c:v>16.1</c:v>
                </c:pt>
                <c:pt idx="4">
                  <c:v>17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</c:v>
                </c:pt>
              </c:strCache>
            </c:strRef>
          </c:tx>
          <c:spPr>
            <a:solidFill>
              <a:srgbClr val="0F9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Fresher</c:v>
                  </c:pt>
                  <c:pt idx="1">
                    <c:v>Junior
(0-2 Yrs)</c:v>
                  </c:pt>
                  <c:pt idx="2">
                    <c:v>Mid
(3-5 Yrs)</c:v>
                  </c:pt>
                  <c:pt idx="3">
                    <c:v>Senior
(6-8 Yrs)</c:v>
                  </c:pt>
                  <c:pt idx="4">
                    <c:v>Lead/Arch.
(9+ Yrs)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2219</c:v>
                </c:pt>
                <c:pt idx="1">
                  <c:v>4915</c:v>
                </c:pt>
                <c:pt idx="2">
                  <c:v>10112</c:v>
                </c:pt>
                <c:pt idx="3">
                  <c:v>4810</c:v>
                </c:pt>
                <c:pt idx="4">
                  <c:v>1145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9E8E"/>
              </a:solidFill>
              <a:effectLst/>
            </c:spPr>
          </c:dPt>
          <c:dPt>
            <c:idx val="1"/>
            <c:bubble3D val="0"/>
            <c:spPr>
              <a:solidFill>
                <a:srgbClr val="E9A23B"/>
              </a:solidFill>
              <a:effectLst/>
            </c:spPr>
          </c:dPt>
          <c:dPt>
            <c:idx val="2"/>
            <c:bubble3D val="0"/>
            <c:spPr>
              <a:solidFill>
                <a:srgbClr val="7C86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On-site</c:v>
                </c:pt>
                <c:pt idx="1">
                  <c:v>Hybrid</c:v>
                </c:pt>
                <c:pt idx="2">
                  <c:v>Remote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18701</c:v>
                </c:pt>
                <c:pt idx="1">
                  <c:v>2347</c:v>
                </c:pt>
                <c:pt idx="2">
                  <c:v>2153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Automation</c:v>
                  </c:pt>
                  <c:pt idx="1">
                    <c:v>Artificial Intelligence</c:v>
                  </c:pt>
                  <c:pt idx="2">
                    <c:v>Business Analysis</c:v>
                  </c:pt>
                  <c:pt idx="3">
                    <c:v>Analytical</c:v>
                  </c:pt>
                  <c:pt idx="4">
                    <c:v>SQL</c:v>
                  </c:pt>
                  <c:pt idx="5">
                    <c:v>Machine Learning</c:v>
                  </c:pt>
                  <c:pt idx="6">
                    <c:v>Data Analysis</c:v>
                  </c:pt>
                  <c:pt idx="7">
                    <c:v>Python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1995</c:v>
                </c:pt>
                <c:pt idx="1">
                  <c:v>2137</c:v>
                </c:pt>
                <c:pt idx="2">
                  <c:v>2396</c:v>
                </c:pt>
                <c:pt idx="3">
                  <c:v>2427</c:v>
                </c:pt>
                <c:pt idx="4">
                  <c:v>2940</c:v>
                </c:pt>
                <c:pt idx="5">
                  <c:v>3520</c:v>
                </c:pt>
                <c:pt idx="6">
                  <c:v>3776</c:v>
                </c:pt>
                <c:pt idx="7">
                  <c:v>4266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21B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121B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Tech Job Market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Report — 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23,201 job postings · 6,992 companies · 198 cities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Sakshi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281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Matplotlib / Seaborn  ·  Plotly  ·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Indian Tech Hiring Market,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23,201 postings across 6,992 companies and 198 cities were analyzed to understand where India's tech hiring is concentrated, what it pays, and what skills it demands.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23,201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79776" y="23317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9776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6,992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71216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10912" y="23317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02352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42048" y="23317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42048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₹15.3 LPA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33488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Disclosed Salary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73184" y="23317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3184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3.59 / 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64624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Company Rating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CEFD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90872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salary: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~12% of postings disclose salary. Every salary figure in this report uses disclosed postings only — an early, uncorrected pass that treated undisclosed salaries as ₹0 produced a misleading average of just ₹2.27 LPA.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 This Project Set Out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280160" y="153619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 and companies are hiring the most for tech roles?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280160" y="24048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salary landscape across roles, cities, and experience levels?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280160" y="32735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technical skills are most in demand right now?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280160" y="414223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common is remote or hybrid work versus on-site roles?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280160" y="50109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these insights be delivered as an interactive dashboard, not just a static report?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Scrape to Interactive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placeholder text, corrected salary handling, removed 90 invalid experience rows.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58768" y="32004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03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33375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business questions using Pandas, Matplotlib, and Seaborn.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16368" y="32004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2103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13816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38160" y="33375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7-page Streamlit app with Plotly charts and live filters.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Salary Numbers Almost Told the Wrong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11.9% of postings disclose a salary. Early analysis treated undisclosed jobs as ₹0 instead of missing — quietly dragging every average down to a fraction of the true market rate.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₹2.27 LPA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“salary” across ALL postings — undisclosed jobs counted as ₹0, silently deflating the market average.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233172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E4F5F2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₹15.33 LPA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26480" y="39776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computed on disclosed postings only — undisclosed jobs excluded rather than zero-filled. Roughly 6.7× more representative of the real market.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JOBS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Hiring Cities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leads with 3,276 postings, followed closely by four other established tech hubs.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10607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HIRING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Hiring Companies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IT services firms dominate — TCS alone accounts for 653 postings in this dataset.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10607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Roles Dominate the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is the single most-posted role category, ahead of Data Analyst and Business Analyst.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10607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Distribution (Disclosed Postings Only)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disclosed roles cluster between ₹8–25 LPA, with a long tail of senior and specialist pay.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73152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965960"/>
            <a:ext cx="3017520" cy="4343400"/>
          </a:xfrm>
          <a:prstGeom prst="roundRect">
            <a:avLst>
              <a:gd name="adj" fmla="val 2424"/>
            </a:avLst>
          </a:prstGeom>
          <a:solidFill>
            <a:srgbClr val="0A1128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366760" y="3063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postings disclose salary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66760" y="3931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₹14.0 LPA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36676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disclosed salary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66760" y="5120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₹15.3 LPA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36676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disclosed salary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Paying Roles &amp; Cities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Role (Avg. LPA)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3949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City (Avg. LPA, Top 6 Hiring Cities)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920240"/>
          <a:ext cx="53949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Profile &amp; Work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by Experience Level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4922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360920" y="192024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360920" y="51663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roles remain dominant at ~81% — remote work is still the exception in Indian tech hiring.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In-Demand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data analysis, and machine learning lead — mirroring the data-heavy role demand seen earlier.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10607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 — 2026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572000"/>
            <a:ext cx="3657600" cy="3657600"/>
          </a:xfrm>
          <a:prstGeom prst="ellipse">
            <a:avLst/>
          </a:prstGeom>
          <a:solidFill>
            <a:srgbClr val="121B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Concentrated, Data-Driven Market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5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is concentrated in a handful of metro cities and large IT services firms, with strong demand for data-oriented roles and skills. On-site work remains the norm, and disclosed salaries — though a minority — point to meaningfully higher compensation than a naive read of the raw data would suggest.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121B3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154680"/>
            <a:ext cx="457200" cy="73152"/>
          </a:xfrm>
          <a:prstGeom prst="roundRect">
            <a:avLst/>
          </a:prstGeom>
          <a:solidFill>
            <a:srgbClr val="0F9E8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Job Seekers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data analysis, and machine learning align with the highest-demand, highest-paying roles.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88036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121B3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154680"/>
            <a:ext cx="457200" cy="73152"/>
          </a:xfrm>
          <a:prstGeom prst="roundRect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Recruiters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7947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salary disclosure would substantially improve compensation benchmarking market-wide.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288036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121B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3154680"/>
            <a:ext cx="457200" cy="73152"/>
          </a:xfrm>
          <a:prstGeom prst="roundRect">
            <a:avLst/>
          </a:prstGeom>
          <a:solidFill>
            <a:srgbClr val="0F9E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37947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 models, resume matching, skill-gap analysis, and live job API integration.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full interactive dashboard — built in Streamlit — for live filtering across city, experience, salary tier, and work mode.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2026-07-14T18:53:58Z</dcterms:created>
  <dcterms:modified xsi:type="dcterms:W3CDTF">2026-07-14T18:53:58Z</dcterms:modified>
</cp:coreProperties>
</file>